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BATTERY HEALTH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TRUST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digital twin with calibrated uncertainty for grid-scale energy storage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Marin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State-of-Health &amp; Remaining-Useful-Life forecasting with calibrated prediction intervals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PES General Meeting 2026  ·  Panel: AI-powered Digital Twins for Grid-Scale Energy Storage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TASK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capacity fade before it bites — with an error bar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Health  </a:t>
            </a:r>
            <a:pPr indent="0" marL="0">
              <a:buNone/>
            </a:pPr>
            <a:r>
              <a:rPr lang="en-US" sz="14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SoH(n) = Qn / Q0</a:t>
            </a:r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fraction of original capacity at cycle n.  </a:t>
            </a:r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life</a:t>
            </a:r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conventionally at SoH = 0.80.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766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forecasting task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6263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SoH for cycles 1…K (early life), predict SoH for cycles K+1…N (the rest of life) — and a calibrated interval for each.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extrapolation, not interpolation: we never see the test cycles during fitting. It is the regime where naive models quietly fail and overconfident error bars become dangerous.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2194560"/>
            <a:ext cx="3886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35240" y="2194560"/>
            <a:ext cx="9144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304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2670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a unit drops offline.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310128"/>
            <a:ext cx="3886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35240" y="3310128"/>
            <a:ext cx="9144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warranty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3785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ahead of thermal/limit risk.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425696"/>
            <a:ext cx="3886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35240" y="4425696"/>
            <a:ext cx="9144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4535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SoH sensor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9011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inferred and forecast.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hybrid digital twin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EAF2F6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432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history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Q(n) per 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87452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E9F3E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8745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prior  fθ(n)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port-Hamiltonian or empirical law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37490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FBF3E2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3749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residual  gφ(n)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on what physics misses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74320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EAF2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→  SoH(n)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calibrated σ(h)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0" y="27432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0" y="2743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to 80%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2926080" y="2468880"/>
            <a:ext cx="731520" cy="64008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3566160"/>
            <a:ext cx="731520" cy="64008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75120" y="2468880"/>
            <a:ext cx="640080" cy="64008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6675120" y="3566160"/>
            <a:ext cx="640080" cy="64008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18320" y="3337560"/>
            <a:ext cx="64008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83080" y="3337560"/>
            <a:ext cx="0" cy="17830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5120640"/>
            <a:ext cx="6583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3931920"/>
            <a:ext cx="0" cy="11887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1920240" y="5138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8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measurement → data assimilation (Kalman update)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block is a port-Hamiltonian model when conservation structure is known (the library's core), or a lighter empirical law for degradation like SoH — same hybrid pattern. The loop folds in new data as it arrives.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physics nor ML alone is enough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126480" cy="2468880"/>
        </p:xfrm>
        <a:graphic>
          <a:graphicData uri="http://schemas.openxmlformats.org/drawingml/2006/table">
            <a:tbl>
              <a:tblPr/>
              <a:tblGrid>
                <a:gridCol w="1531620"/>
                <a:gridCol w="1531620"/>
                <a:gridCol w="1531620"/>
                <a:gridCol w="15316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Extrapolates?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cell detail?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uncertainty?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(this work)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9768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constrains the forecast to stay physically admissible far ahead;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corrects what the law misses but cannot extrapolate on its own; the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both — and only it carries a calibrated error bar. The bars at right show it in numbers.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967728" y="2284694"/>
            <a:ext cx="4901184" cy="3203013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/sessions/trusting-blissful-pascal/mnt/Digital Twin in Python/examples/battery_soh/figures/02_metho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357846"/>
            <a:ext cx="4754880" cy="30567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prior + learned correction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Empirical degradation prior  (SEI film growth ~√n, cycling ~ linear)</a:t>
            </a:r>
            <a:endParaRPr lang="en-US" sz="1350" dirty="0"/>
          </a:p>
        </p:txBody>
      </p:sp>
      <p:pic>
        <p:nvPicPr>
          <p:cNvPr id="6" name="Image 0" descr="/sessions/trusting-blissful-pascal/mnt/Digital Twin in Python/examples/battery_soh/figures/eq_p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9966960" cy="907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38879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Hybrid forecast = physics prior + damped ML residual   (fθ: a fade law here; a port-Hamiltonian model when structure is known)</a:t>
            </a:r>
            <a:endParaRPr lang="en-US" sz="1300" dirty="0"/>
          </a:p>
        </p:txBody>
      </p:sp>
      <p:pic>
        <p:nvPicPr>
          <p:cNvPr id="8" name="Image 1" descr="/sessions/trusting-blissful-pascal/mnt/Digital Twin in Python/examples/battery_soh/figures/eq_hyb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604639"/>
            <a:ext cx="5486400" cy="9381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477140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Structure-preserving core of the library (passive by construction → no runaway)</a:t>
            </a:r>
            <a:endParaRPr lang="en-US" sz="1350" dirty="0"/>
          </a:p>
        </p:txBody>
      </p:sp>
      <p:pic>
        <p:nvPicPr>
          <p:cNvPr id="10" name="Image 2" descr="/sessions/trusting-blissful-pascal/mnt/Digital Twin in Python/examples/battery_soh/figures/eq_ph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137166"/>
            <a:ext cx="9601200" cy="9340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SCORING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bands and how we grade them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interval — split-conformal scale that grows with the horizon h</a:t>
            </a:r>
            <a:endParaRPr lang="en-US" sz="1350" dirty="0"/>
          </a:p>
        </p:txBody>
      </p:sp>
      <p:pic>
        <p:nvPicPr>
          <p:cNvPr id="6" name="Image 0" descr="/sessions/trusting-blissful-pascal/mnt/Digital Twin in Python/examples/battery_soh/figures/eq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48840"/>
            <a:ext cx="9692640" cy="9123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121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against a naive baseline — skill, and whether the bands mean what they say</a:t>
            </a:r>
            <a:endParaRPr lang="en-US" sz="1350" dirty="0"/>
          </a:p>
        </p:txBody>
      </p:sp>
      <p:pic>
        <p:nvPicPr>
          <p:cNvPr id="8" name="Image 1" descr="/sessions/trusting-blissful-pascal/mnt/Digital Twin in Python/examples/battery_soh/figures/eq_metr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92694"/>
            <a:ext cx="6766560" cy="1152736"/>
          </a:xfrm>
          <a:prstGeom prst="rect">
            <a:avLst/>
          </a:prstGeom>
        </p:spPr>
      </p:pic>
      <p:pic>
        <p:nvPicPr>
          <p:cNvPr id="9" name="Image 2" descr="/sessions/trusting-blissful-pascal/mnt/Digital Twin in Python/examples/battery_soh/figures/eq_cr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884134"/>
            <a:ext cx="3566160" cy="6316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512831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PICP = coverage · MASE &lt; 1 beats the naive forecast · CRPS scores the whole predictive distribution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CURATION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 starts before the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70448" y="1938528"/>
            <a:ext cx="5998464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trusting-blissful-pascal/mnt/Digital Twin in Python/examples/battery_soh/figures/00_flee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011680"/>
            <a:ext cx="585216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3736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Li-ion dataset (public, Saha &amp; Goebel).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34 cells, 8 are genuine full-discharge degradation trajectories. The other 26 are reference / impedance / partial-cycle tests — SoH that 'grows', collapses and revives, or starts near zero.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 are explicit: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 cycles · plausible C0 · monotone-ish fade · no recovery glitches. Two operating temperatures (24 °C, 4 °C) are kept on purpose, to test calibration across conditions.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FORECAST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the second half of life from the 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" y="1629918"/>
            <a:ext cx="7278624" cy="46040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trusting-blissful-pascal/mnt/Digital Twin in Python/examples/battery_soh/figures/01_hero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3070"/>
            <a:ext cx="7132320" cy="4457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819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27532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 the true fade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75320" y="222199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left of the split line, the hybrid follows the real decline.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55280" y="332841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3291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ML-only drifts off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75320" y="373075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physics it flattens and misses the trend.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48371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4800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widens with horizon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75320" y="52395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grows the further ahead — and keeps containing the truth.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BY HORIZON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Short, medium, long term — resolved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34637" y="1755648"/>
            <a:ext cx="10892245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trusting-blissful-pascal/mnt/Digital Twin in Python/examples/battery_soh/figures/10_zoom_horiz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89" y="1828800"/>
            <a:ext cx="10745941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band, the correction still informs the mean. 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trend carries; band opens steadily. 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but earned — the interval owns the growing risk.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IS THE UNCERTAINTY REAL?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and predictive-distribution checks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801368"/>
            <a:ext cx="4169664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trusting-blissful-pascal/mnt/Digital Twin in Python/examples/battery_soh/figures/03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402336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64608" y="2414016"/>
            <a:ext cx="6912864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/sessions/trusting-blissful-pascal/mnt/Digital Twin in Python/examples/battery_soh/figures/11_residual_di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87168"/>
            <a:ext cx="6766560" cy="2706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90% interval contains the truth ~90% of the time across the fleet (ECE = 0.11), sitting just above the diagonal — slightly conservative.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residuals are close to N(0,1), a touch narrower — the bands are trustworthy, with a little room to tighten.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THE DECISION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curve to maintenance call: Remaining Useful Life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" y="1967103"/>
            <a:ext cx="5907024" cy="3746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trusting-blissful-pascal/mnt/Digital Twin in Python/examples/battery_soh/figures/06_rul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40255"/>
            <a:ext cx="5760720" cy="36004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01968" y="1572768"/>
            <a:ext cx="4535424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/sessions/trusting-blissful-pascal/mnt/Digital Twin in Python/examples/battery_soh/figures/07_rul_pa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= cycles to 80% SoH. The twin returns a distribution of end-of-life cycles (left); across cells the predicted EOL tracks the true EOL with an interval you can schedule against (right).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engine, across utilities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34747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storage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/ RUL for grid batteries — shown 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34747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networks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wear, membrane fouling, leak-rate drift.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828800"/>
            <a:ext cx="34747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Rotating &amp; static assets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motors, heat exchangers.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solidFill>
            <a:srgbClr val="21295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deployable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CPU-only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(laptop, no cluster)   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&amp; deterministic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(traceable — EU AI Act-ready)   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by default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(plan against the interval)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CONTEXT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sits: the world-models family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39496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work — structured digital twin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observable, physical (SoH)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known a priori (physics)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 calibrated, first-class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Nature:  white-box, auditable, CPU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world models (Dreamer, JEPA, Cosmos)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 learned latent representation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learned from data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 typically weak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Nature:  black-box, high-dim, GPU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486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substrate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state, conservation, dissipation, coupling to outside — at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ends of the observable ↔ latent axis.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Critical-infrastructure decisions need the structured, auditable end.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modelling choices come from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&amp; Goebel (2007), NASA Ames Prognostics Data Repository — Li-ion battery data set.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physics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77977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Pinson &amp; Bazant (2013), J. Electrochem. Soc. — SEI growth &amp; √t capacity fade.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28269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Birkl et al. (2017), J. Power Sources — degradation diagnostics for Li-ion cells.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85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(2018), IEEE Trans. Smart Grid — cell-life degradation modelling.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288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life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5811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Severson et al. (2019), Nature Energy — cycle-life prediction before fade.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for SoH / UQ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3766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Richardson, Osborne &amp; Howey (2017), J. Power Sources — GP regression for SoH.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8795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Rasmussen &amp; Williams (2006), Gaussian Processes for Machine Learning, MIT Press.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19842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Karniadakis et al. (2021), Nature Reviews Physics — physics-informed ML.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37960" y="248716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Willard et al. (2023), ACM Computing Surveys — knowledge + ML for science/eng.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990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&amp; calibration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28269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Vovk, Gammerman &amp; Shafer (2005), Algorithmic Learning in a Random World.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3785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Angelopoulos &amp; Bates (2023) — gentle introduction to conformal prediction.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42885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Kuleshov, Fenner &amp; Ermon (2018), ICML — calibrated regression.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7914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0840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Gneiting &amp; Raftery (2007), JASA — proper scoring rules (CRPS).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55869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Hyndman &amp; Koehler (2006), Int. J. Forecasting — MASE.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Port-Hamiltonian core: van der Schaft &amp; Jeltsema (2014), Foundations and Trends in Systems and Control.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 for critical systems  ·  J. Marin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health and the error bar together.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critical system, a point forecast without calibrated uncertainty is a liability.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extrapolates; data-fitting interpolates.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 ML beats either alone, and beats the naive baseline by 3-8× on the standard cells.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is the product: curated data, extrapolative evaluation, checked calibration.</a:t>
            </a:r>
            <a:endParaRPr lang="en-US" sz="16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carries from batteries to water to rotating assets.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3A46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Marin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 build the math that tells you when AI is wrong  ·  </a:t>
            </a:r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javier@jmarin.info  ·  github.com/Javihaus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battery health you can trust</dc:title>
  <dc:subject>PptxGenJS Presentation</dc:subject>
  <dc:creator>Javier Marin</dc:creator>
  <cp:lastModifiedBy>Javier Marin</cp:lastModifiedBy>
  <cp:revision>1</cp:revision>
  <dcterms:created xsi:type="dcterms:W3CDTF">2026-06-20T11:47:59Z</dcterms:created>
  <dcterms:modified xsi:type="dcterms:W3CDTF">2026-06-20T11:47:59Z</dcterms:modified>
</cp:coreProperties>
</file>